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5"/>
    <p:sldMasterId id="214748366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y="5143500" cx="9144000"/>
  <p:notesSz cx="6858000" cy="9144000"/>
  <p:embeddedFontLst>
    <p:embeddedFont>
      <p:font typeface="Arial Narrow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71F86F5-A515-4E3D-9561-1A13A8D973ED}">
  <a:tblStyle styleId="{E71F86F5-A515-4E3D-9561-1A13A8D973E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ArialNarrow-boldItalic.fntdata"/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font" Target="fonts/ArialNarrow-regular.fntdata"/><Relationship Id="rId16" Type="http://schemas.openxmlformats.org/officeDocument/2006/relationships/slide" Target="slides/slide9.xml"/><Relationship Id="rId5" Type="http://schemas.openxmlformats.org/officeDocument/2006/relationships/slideMaster" Target="slideMasters/slideMaster1.xml"/><Relationship Id="rId19" Type="http://schemas.openxmlformats.org/officeDocument/2006/relationships/font" Target="fonts/ArialNarrow-italic.fntdata"/><Relationship Id="rId6" Type="http://schemas.openxmlformats.org/officeDocument/2006/relationships/slideMaster" Target="slideMasters/slideMaster2.xml"/><Relationship Id="rId18" Type="http://schemas.openxmlformats.org/officeDocument/2006/relationships/font" Target="fonts/ArialNarrow-bold.fntdata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a7ebde99a0_2_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5" name="Google Shape;65;g3a7ebde99a0_2_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a7ebde99a0_3_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2" name="Google Shape;72;g3a7ebde99a0_3_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a8eec0712c_0_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4" name="Google Shape;84;g3a8eec0712c_0_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a7ebde99a0_3_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3" name="Google Shape;93;g3a7ebde99a0_3_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a8eec0712c_0_2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1" name="Google Shape;101;g3a8eec0712c_0_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a8eec0712c_0_3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9" name="Google Shape;109;g3a8eec0712c_0_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a7ebde99a0_3_1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7" name="Google Shape;117;g3a7ebde99a0_3_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a7ebde99a0_3_2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4" name="Google Shape;124;g3a7ebde99a0_3_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/>
          <p:nvPr>
            <p:ph type="title"/>
          </p:nvPr>
        </p:nvSpPr>
        <p:spPr>
          <a:xfrm>
            <a:off x="331470" y="257175"/>
            <a:ext cx="6995157" cy="70323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2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idx="1" type="body"/>
          </p:nvPr>
        </p:nvSpPr>
        <p:spPr>
          <a:xfrm>
            <a:off x="331470" y="1369219"/>
            <a:ext cx="8555355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52" name="Google Shape;52;p13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-1" y="4849586"/>
            <a:ext cx="9153000" cy="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971843"/>
            <a:ext cx="3348990" cy="77642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13"/>
          <p:cNvSpPr txBox="1"/>
          <p:nvPr>
            <p:ph type="title"/>
          </p:nvPr>
        </p:nvSpPr>
        <p:spPr>
          <a:xfrm>
            <a:off x="331470" y="257175"/>
            <a:ext cx="6995157" cy="70323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1" i="0" sz="3300" u="none" cap="none" strike="noStrike">
                <a:solidFill>
                  <a:srgbClr val="000000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">
          <p15:clr>
            <a:srgbClr val="F26B43"/>
          </p15:clr>
        </p15:guide>
        <p15:guide id="2" pos="198">
          <p15:clr>
            <a:srgbClr val="F26B43"/>
          </p15:clr>
        </p15:guide>
        <p15:guide id="3" pos="5598">
          <p15:clr>
            <a:srgbClr val="F26B43"/>
          </p15:clr>
        </p15:guide>
        <p15:guide id="4" orient="horz" pos="522">
          <p15:clr>
            <a:srgbClr val="F26B43"/>
          </p15:clr>
        </p15:guide>
        <p15:guide id="5" orient="horz" pos="864">
          <p15:clr>
            <a:srgbClr val="F26B43"/>
          </p15:clr>
        </p15:guide>
        <p15:guide id="6" orient="horz" pos="2916">
          <p15:clr>
            <a:srgbClr val="F26B43"/>
          </p15:clr>
        </p15:guide>
        <p15:guide id="7" pos="28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Relationship Id="rId4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Relationship Id="rId4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Relationship Id="rId4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9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90"/>
              <a:buFont typeface="Arial"/>
              <a:buNone/>
            </a:pPr>
            <a:r>
              <a:rPr lang="en"/>
              <a:t>Advanced Apex Project I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15"/>
          <p:cNvSpPr txBox="1"/>
          <p:nvPr>
            <p:ph idx="1" type="subTitle"/>
          </p:nvPr>
        </p:nvSpPr>
        <p:spPr>
          <a:xfrm>
            <a:off x="311700" y="2834125"/>
            <a:ext cx="8520600" cy="111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" sz="1679"/>
              <a:t>Team Members:</a:t>
            </a:r>
            <a:endParaRPr b="1" sz="1679"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br>
              <a:rPr lang="en" sz="1679"/>
            </a:br>
            <a:r>
              <a:rPr lang="en" sz="1679"/>
              <a:t>1. Aswin Kumar K S</a:t>
            </a:r>
            <a:endParaRPr sz="1679"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lang="en" sz="1679"/>
              <a:t>2. Magdalene Sunitha</a:t>
            </a:r>
            <a:endParaRPr sz="1679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>
            <p:ph type="title"/>
          </p:nvPr>
        </p:nvSpPr>
        <p:spPr>
          <a:xfrm>
            <a:off x="331470" y="257175"/>
            <a:ext cx="6995250" cy="7033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SzPts val="800"/>
              <a:buNone/>
            </a:pPr>
            <a:r>
              <a:rPr lang="en" sz="2300">
                <a:solidFill>
                  <a:srgbClr val="1C4587"/>
                </a:solidFill>
              </a:rPr>
              <a:t>Clustering Biological Specimens Using Morphological Features</a:t>
            </a:r>
            <a:endParaRPr sz="2300">
              <a:solidFill>
                <a:srgbClr val="1C4587"/>
              </a:solidFill>
            </a:endParaRPr>
          </a:p>
        </p:txBody>
      </p:sp>
      <p:sp>
        <p:nvSpPr>
          <p:cNvPr id="68" name="Google Shape;68;p16"/>
          <p:cNvSpPr txBox="1"/>
          <p:nvPr/>
        </p:nvSpPr>
        <p:spPr>
          <a:xfrm>
            <a:off x="79425" y="1173925"/>
            <a:ext cx="8807400" cy="33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17500" lvl="0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This project applies an </a:t>
            </a:r>
            <a:r>
              <a:rPr b="1" lang="en">
                <a:solidFill>
                  <a:schemeClr val="dk1"/>
                </a:solidFill>
              </a:rPr>
              <a:t>end-to-end unsupervised learning pipeline</a:t>
            </a:r>
            <a:r>
              <a:rPr lang="en">
                <a:solidFill>
                  <a:schemeClr val="dk1"/>
                </a:solidFill>
              </a:rPr>
              <a:t> to the </a:t>
            </a:r>
            <a:r>
              <a:rPr b="1" lang="en">
                <a:solidFill>
                  <a:schemeClr val="dk1"/>
                </a:solidFill>
              </a:rPr>
              <a:t>Dry Bean dataset</a:t>
            </a:r>
            <a:r>
              <a:rPr lang="en">
                <a:solidFill>
                  <a:schemeClr val="dk1"/>
                </a:solidFill>
              </a:rPr>
              <a:t>.</a:t>
            </a:r>
            <a:endParaRPr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Using </a:t>
            </a:r>
            <a:r>
              <a:rPr b="1" lang="en">
                <a:solidFill>
                  <a:schemeClr val="dk1"/>
                </a:solidFill>
              </a:rPr>
              <a:t>structured</a:t>
            </a:r>
            <a:r>
              <a:rPr lang="en">
                <a:solidFill>
                  <a:schemeClr val="dk1"/>
                </a:solidFill>
              </a:rPr>
              <a:t> numerical shape and size features, the objective is to </a:t>
            </a:r>
            <a:r>
              <a:rPr b="1" lang="en">
                <a:solidFill>
                  <a:schemeClr val="dk1"/>
                </a:solidFill>
              </a:rPr>
              <a:t>identify natural clusters </a:t>
            </a:r>
            <a:r>
              <a:rPr lang="en">
                <a:solidFill>
                  <a:schemeClr val="dk1"/>
                </a:solidFill>
              </a:rPr>
              <a:t>representing different bean types</a:t>
            </a:r>
            <a:endParaRPr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.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The solution includes </a:t>
            </a:r>
            <a:r>
              <a:rPr b="1" lang="en">
                <a:solidFill>
                  <a:schemeClr val="dk1"/>
                </a:solidFill>
              </a:rPr>
              <a:t>data cleaning, feature engineering, correlation-based feature reduction, optimal-k selection</a:t>
            </a:r>
            <a:r>
              <a:rPr lang="en">
                <a:solidFill>
                  <a:schemeClr val="dk1"/>
                </a:solidFill>
              </a:rPr>
              <a:t>, and </a:t>
            </a:r>
            <a:r>
              <a:rPr b="1" lang="en">
                <a:solidFill>
                  <a:schemeClr val="dk1"/>
                </a:solidFill>
              </a:rPr>
              <a:t>K-Means clustering</a:t>
            </a:r>
            <a:r>
              <a:rPr lang="en">
                <a:solidFill>
                  <a:schemeClr val="dk1"/>
                </a:solidFill>
              </a:rPr>
              <a:t>.</a:t>
            </a:r>
            <a:endParaRPr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b="1" lang="en">
                <a:solidFill>
                  <a:schemeClr val="dk1"/>
                </a:solidFill>
              </a:rPr>
              <a:t>Inference and evaluation</a:t>
            </a:r>
            <a:r>
              <a:rPr lang="en">
                <a:solidFill>
                  <a:schemeClr val="dk1"/>
                </a:solidFill>
              </a:rPr>
              <a:t> are performed </a:t>
            </a:r>
            <a:r>
              <a:rPr b="1" lang="en">
                <a:solidFill>
                  <a:schemeClr val="dk1"/>
                </a:solidFill>
              </a:rPr>
              <a:t>on production data</a:t>
            </a:r>
            <a:r>
              <a:rPr lang="en">
                <a:solidFill>
                  <a:schemeClr val="dk1"/>
                </a:solidFill>
              </a:rPr>
              <a:t> to validate cluster stability.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The project aims to create a </a:t>
            </a:r>
            <a:r>
              <a:rPr b="1" lang="en">
                <a:solidFill>
                  <a:schemeClr val="dk1"/>
                </a:solidFill>
              </a:rPr>
              <a:t>reproducible clustering pipeline</a:t>
            </a:r>
            <a:r>
              <a:rPr lang="en">
                <a:solidFill>
                  <a:schemeClr val="dk1"/>
                </a:solidFill>
              </a:rPr>
              <a:t> that generalizes well to new data that supports faster, scalable, and objective bean classification—</a:t>
            </a:r>
            <a:r>
              <a:rPr b="1" lang="en">
                <a:solidFill>
                  <a:schemeClr val="dk1"/>
                </a:solidFill>
              </a:rPr>
              <a:t>reducing manual effort</a:t>
            </a:r>
            <a:r>
              <a:rPr lang="en">
                <a:solidFill>
                  <a:schemeClr val="dk1"/>
                </a:solidFill>
              </a:rPr>
              <a:t> and </a:t>
            </a:r>
            <a:r>
              <a:rPr b="1" lang="en">
                <a:solidFill>
                  <a:schemeClr val="dk1"/>
                </a:solidFill>
              </a:rPr>
              <a:t>enabling better decisions</a:t>
            </a:r>
            <a:r>
              <a:rPr lang="en">
                <a:solidFill>
                  <a:schemeClr val="dk1"/>
                </a:solidFill>
              </a:rPr>
              <a:t> for research and agriculture.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114300" lvl="0" marL="2540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</p:txBody>
      </p:sp>
      <p:pic>
        <p:nvPicPr>
          <p:cNvPr descr="A logo for a company&#10;&#10;AI-generated content may be incorrect." id="69" name="Google Shape;69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18572" y="77782"/>
            <a:ext cx="1096150" cy="1096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6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6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6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68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7"/>
          <p:cNvSpPr txBox="1"/>
          <p:nvPr>
            <p:ph type="title"/>
          </p:nvPr>
        </p:nvSpPr>
        <p:spPr>
          <a:xfrm>
            <a:off x="166895" y="476925"/>
            <a:ext cx="6995400" cy="703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SzPts val="800"/>
              <a:buNone/>
            </a:pPr>
            <a:r>
              <a:rPr lang="en" sz="2300">
                <a:solidFill>
                  <a:srgbClr val="1C4587"/>
                </a:solidFill>
              </a:rPr>
              <a:t>Key Observations - Before vs After Feature Transformation</a:t>
            </a:r>
            <a:endParaRPr sz="2300">
              <a:solidFill>
                <a:srgbClr val="1C4587"/>
              </a:solidFill>
            </a:endParaRPr>
          </a:p>
        </p:txBody>
      </p:sp>
      <p:sp>
        <p:nvSpPr>
          <p:cNvPr id="75" name="Google Shape;75;p17"/>
          <p:cNvSpPr txBox="1"/>
          <p:nvPr/>
        </p:nvSpPr>
        <p:spPr>
          <a:xfrm>
            <a:off x="820653" y="1371608"/>
            <a:ext cx="7502700" cy="33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114300" lvl="0" marL="2540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114300" lvl="0" marL="2540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</p:txBody>
      </p:sp>
      <p:pic>
        <p:nvPicPr>
          <p:cNvPr descr="A logo for a company&#10;&#10;AI-generated content may be incorrect." id="76" name="Google Shape;76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2700" y="64450"/>
            <a:ext cx="1038975" cy="1038975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7"/>
          <p:cNvSpPr txBox="1"/>
          <p:nvPr/>
        </p:nvSpPr>
        <p:spPr>
          <a:xfrm>
            <a:off x="260600" y="1103425"/>
            <a:ext cx="5277000" cy="313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Before Feature Transformation:</a:t>
            </a:r>
            <a:endParaRPr b="1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The Area feature shows </a:t>
            </a:r>
            <a:r>
              <a:rPr b="1" lang="en"/>
              <a:t>strong right-skew</a:t>
            </a:r>
            <a:r>
              <a:rPr lang="en"/>
              <a:t>, meaning many beans have small areas while fewer have very large areas.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The distribution is </a:t>
            </a:r>
            <a:r>
              <a:rPr b="1" lang="en"/>
              <a:t>highly uneven</a:t>
            </a:r>
            <a:r>
              <a:rPr lang="en"/>
              <a:t>, dominated by lower-value ranges and a long tail toward large values.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Such skewness </a:t>
            </a:r>
            <a:r>
              <a:rPr b="1" lang="en"/>
              <a:t>distorts distance-based clustering </a:t>
            </a:r>
            <a:r>
              <a:rPr lang="en"/>
              <a:t>(like K-Means), causing larger values to dominate.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After Feature Transformation:</a:t>
            </a:r>
            <a:endParaRPr b="1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The distribution becomes </a:t>
            </a:r>
            <a:r>
              <a:rPr b="1" lang="en"/>
              <a:t>nearly symmetric</a:t>
            </a:r>
            <a:r>
              <a:rPr lang="en"/>
              <a:t>, with skew reduced from 0.93 → 0.03.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The transformed feature shows </a:t>
            </a:r>
            <a:r>
              <a:rPr b="1" lang="en"/>
              <a:t>more balanced spread</a:t>
            </a:r>
            <a:r>
              <a:rPr lang="en"/>
              <a:t>, making patterns easier for K-Means to learn.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This confirms that </a:t>
            </a:r>
            <a:r>
              <a:rPr b="1" lang="en"/>
              <a:t>PowerTransformer</a:t>
            </a:r>
            <a:r>
              <a:rPr lang="en"/>
              <a:t> successfully corrected skewness,</a:t>
            </a:r>
            <a:r>
              <a:rPr b="1" lang="en"/>
              <a:t> improving cluster stability and fairness</a:t>
            </a:r>
            <a:r>
              <a:rPr lang="en"/>
              <a:t> across features.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78" name="Google Shape;78;p17" title="100000331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12050" y="1006240"/>
            <a:ext cx="3199625" cy="1861946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7" title="1000003317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731750" y="3022021"/>
            <a:ext cx="3079925" cy="1775217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7"/>
          <p:cNvSpPr txBox="1"/>
          <p:nvPr/>
        </p:nvSpPr>
        <p:spPr>
          <a:xfrm>
            <a:off x="6434047" y="775115"/>
            <a:ext cx="20292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accent3"/>
                </a:solidFill>
              </a:rPr>
              <a:t>Before Feature Transformation</a:t>
            </a:r>
            <a:endParaRPr b="1" sz="1000">
              <a:solidFill>
                <a:schemeClr val="accent3"/>
              </a:solidFill>
            </a:endParaRPr>
          </a:p>
        </p:txBody>
      </p:sp>
      <p:sp>
        <p:nvSpPr>
          <p:cNvPr id="81" name="Google Shape;81;p17"/>
          <p:cNvSpPr txBox="1"/>
          <p:nvPr/>
        </p:nvSpPr>
        <p:spPr>
          <a:xfrm>
            <a:off x="6418424" y="2787100"/>
            <a:ext cx="20292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9900FF"/>
                </a:solidFill>
              </a:rPr>
              <a:t>After</a:t>
            </a:r>
            <a:r>
              <a:rPr b="1" lang="en" sz="1000">
                <a:solidFill>
                  <a:srgbClr val="9900FF"/>
                </a:solidFill>
              </a:rPr>
              <a:t> </a:t>
            </a:r>
            <a:r>
              <a:rPr b="1" lang="en" sz="1000">
                <a:solidFill>
                  <a:srgbClr val="9900FF"/>
                </a:solidFill>
              </a:rPr>
              <a:t>Feature Transformation</a:t>
            </a:r>
            <a:endParaRPr b="1" sz="1000">
              <a:solidFill>
                <a:srgbClr val="9900FF"/>
              </a:solidFill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7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7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7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>
            <p:ph type="title"/>
          </p:nvPr>
        </p:nvSpPr>
        <p:spPr>
          <a:xfrm>
            <a:off x="166895" y="476925"/>
            <a:ext cx="6995400" cy="703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SzPts val="800"/>
              <a:buNone/>
            </a:pPr>
            <a:r>
              <a:rPr lang="en" sz="2300">
                <a:solidFill>
                  <a:srgbClr val="1C4587"/>
                </a:solidFill>
              </a:rPr>
              <a:t>Key Observations - Feature Correlation</a:t>
            </a:r>
            <a:endParaRPr sz="2300">
              <a:solidFill>
                <a:srgbClr val="1C4587"/>
              </a:solidFill>
            </a:endParaRPr>
          </a:p>
        </p:txBody>
      </p:sp>
      <p:sp>
        <p:nvSpPr>
          <p:cNvPr id="87" name="Google Shape;87;p18"/>
          <p:cNvSpPr txBox="1"/>
          <p:nvPr/>
        </p:nvSpPr>
        <p:spPr>
          <a:xfrm>
            <a:off x="795528" y="1357883"/>
            <a:ext cx="7502700" cy="33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114300" lvl="0" marL="2540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114300" lvl="0" marL="2540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</p:txBody>
      </p:sp>
      <p:pic>
        <p:nvPicPr>
          <p:cNvPr descr="A logo for a company&#10;&#10;AI-generated content may be incorrect." id="88" name="Google Shape;88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2700" y="64450"/>
            <a:ext cx="1038975" cy="1038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8" title="100000307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99950" y="1103425"/>
            <a:ext cx="4711734" cy="3624051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8"/>
          <p:cNvSpPr txBox="1"/>
          <p:nvPr/>
        </p:nvSpPr>
        <p:spPr>
          <a:xfrm>
            <a:off x="166900" y="1371600"/>
            <a:ext cx="3824400" cy="23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 </a:t>
            </a:r>
            <a:r>
              <a:rPr b="1" lang="en"/>
              <a:t>Size features </a:t>
            </a:r>
            <a:r>
              <a:rPr lang="en"/>
              <a:t>(Area, Perimeter, Axis Lengths, ConvexArea, EquivDiameter) are </a:t>
            </a:r>
            <a:r>
              <a:rPr b="1" lang="en"/>
              <a:t>highly correlated</a:t>
            </a:r>
            <a:r>
              <a:rPr lang="en"/>
              <a:t> → they all measure bean size.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en"/>
              <a:t>Shape features</a:t>
            </a:r>
            <a:r>
              <a:rPr lang="en"/>
              <a:t> (AspectRatio, Eccentricity, Roundness, Compactness, ShapeFactors) form another </a:t>
            </a:r>
            <a:r>
              <a:rPr b="1" lang="en"/>
              <a:t>strongly correlated group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en"/>
              <a:t>Some features</a:t>
            </a:r>
            <a:r>
              <a:rPr lang="en"/>
              <a:t> show strong </a:t>
            </a:r>
            <a:r>
              <a:rPr b="1" lang="en"/>
              <a:t>inverse relationships</a:t>
            </a:r>
            <a:r>
              <a:rPr lang="en"/>
              <a:t> (e.g., Roundness vs AspectRatio)..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/>
          <p:nvPr>
            <p:ph type="title"/>
          </p:nvPr>
        </p:nvSpPr>
        <p:spPr>
          <a:xfrm>
            <a:off x="245745" y="545500"/>
            <a:ext cx="6995400" cy="703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SzPts val="800"/>
              <a:buNone/>
            </a:pPr>
            <a:r>
              <a:rPr lang="en" sz="2300">
                <a:solidFill>
                  <a:srgbClr val="1C4587"/>
                </a:solidFill>
              </a:rPr>
              <a:t>Visual Highlights - Optimal Cluster Count (Elbow Method)</a:t>
            </a:r>
            <a:endParaRPr sz="2300">
              <a:solidFill>
                <a:srgbClr val="1C4587"/>
              </a:solidFill>
            </a:endParaRPr>
          </a:p>
        </p:txBody>
      </p:sp>
      <p:sp>
        <p:nvSpPr>
          <p:cNvPr id="96" name="Google Shape;96;p19"/>
          <p:cNvSpPr txBox="1"/>
          <p:nvPr/>
        </p:nvSpPr>
        <p:spPr>
          <a:xfrm>
            <a:off x="135575" y="1259550"/>
            <a:ext cx="5024700" cy="33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17500" lvl="0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 Narrow"/>
              <a:buChar char="●"/>
            </a:pPr>
            <a:r>
              <a:rPr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The </a:t>
            </a:r>
            <a:r>
              <a:rPr b="1"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Elbow Method </a:t>
            </a:r>
            <a:r>
              <a:rPr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shows that at </a:t>
            </a:r>
            <a:r>
              <a:rPr b="1"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k = 7</a:t>
            </a:r>
            <a:r>
              <a:rPr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, the </a:t>
            </a:r>
            <a:r>
              <a:rPr b="1"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decrease in inertia </a:t>
            </a:r>
            <a:r>
              <a:rPr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becomes noticeably smaller, indicating </a:t>
            </a:r>
            <a:r>
              <a:rPr b="1"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diminishing returns beyond this point</a:t>
            </a:r>
            <a:endParaRPr b="1"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317500" lvl="0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 Narrow"/>
              <a:buChar char="●"/>
            </a:pPr>
            <a:r>
              <a:rPr b="1"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Silhouette behavior (Score=0.2506)</a:t>
            </a:r>
            <a:r>
              <a:rPr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 also remains </a:t>
            </a:r>
            <a:r>
              <a:rPr b="1"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stable</a:t>
            </a:r>
            <a:r>
              <a:rPr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 around k = 7, supporting this choice.</a:t>
            </a:r>
            <a:endParaRPr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317500" lvl="0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 Narrow"/>
              <a:buChar char="●"/>
            </a:pPr>
            <a:r>
              <a:rPr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k = 7 </a:t>
            </a:r>
            <a:r>
              <a:rPr b="1"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balances compactness and separation of clusters</a:t>
            </a:r>
            <a:r>
              <a:rPr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 effectively.</a:t>
            </a:r>
            <a:endParaRPr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317500" lvl="0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 Narrow"/>
              <a:buChar char="●"/>
            </a:pPr>
            <a:r>
              <a:rPr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This value ensures </a:t>
            </a:r>
            <a:r>
              <a:rPr b="1"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meaningful segmentation without overfitting or unnecessary complexity.</a:t>
            </a:r>
            <a:endParaRPr b="1"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0" lvl="0" marL="1397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0" lvl="0" marL="1397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114300" lvl="0" marL="2540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</p:txBody>
      </p:sp>
      <p:pic>
        <p:nvPicPr>
          <p:cNvPr descr="A logo for a company&#10;&#10;AI-generated content may be incorrect." id="97" name="Google Shape;9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89424" y="65151"/>
            <a:ext cx="1066050" cy="1066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9" title="10000030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39850" y="1444825"/>
            <a:ext cx="3646975" cy="2404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6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6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0"/>
          <p:cNvSpPr txBox="1"/>
          <p:nvPr>
            <p:ph type="title"/>
          </p:nvPr>
        </p:nvSpPr>
        <p:spPr>
          <a:xfrm>
            <a:off x="245745" y="545500"/>
            <a:ext cx="6995400" cy="703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SzPts val="800"/>
              <a:buNone/>
            </a:pPr>
            <a:r>
              <a:rPr lang="en" sz="2300">
                <a:solidFill>
                  <a:srgbClr val="1C4587"/>
                </a:solidFill>
              </a:rPr>
              <a:t>Visual Highlights - Training Data Cluster Behavior</a:t>
            </a:r>
            <a:endParaRPr sz="2300">
              <a:solidFill>
                <a:srgbClr val="1C4587"/>
              </a:solidFill>
            </a:endParaRPr>
          </a:p>
        </p:txBody>
      </p:sp>
      <p:sp>
        <p:nvSpPr>
          <p:cNvPr id="104" name="Google Shape;104;p20"/>
          <p:cNvSpPr txBox="1"/>
          <p:nvPr/>
        </p:nvSpPr>
        <p:spPr>
          <a:xfrm>
            <a:off x="96625" y="1249000"/>
            <a:ext cx="5062200" cy="33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17500" lvl="0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 Narrow"/>
              <a:buChar char="●"/>
            </a:pPr>
            <a:r>
              <a:rPr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Training data reveals </a:t>
            </a:r>
            <a:r>
              <a:rPr b="1"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well-defined clusters </a:t>
            </a:r>
            <a:r>
              <a:rPr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with </a:t>
            </a:r>
            <a:r>
              <a:rPr b="1"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minimal overlap </a:t>
            </a:r>
            <a:r>
              <a:rPr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in key feature space.</a:t>
            </a:r>
            <a:endParaRPr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317500" lvl="0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 Narrow"/>
              <a:buChar char="●"/>
            </a:pPr>
            <a:r>
              <a:rPr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Indicates </a:t>
            </a:r>
            <a:r>
              <a:rPr b="1"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strong underlying structure</a:t>
            </a:r>
            <a:r>
              <a:rPr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 in bean morphology features.</a:t>
            </a:r>
            <a:endParaRPr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317500" lvl="0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 Narrow"/>
              <a:buChar char="●"/>
            </a:pPr>
            <a:r>
              <a:rPr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Confirms that </a:t>
            </a:r>
            <a:r>
              <a:rPr b="1"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preprocessing</a:t>
            </a:r>
            <a:r>
              <a:rPr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 (PowerTransformer + StandardScaler) </a:t>
            </a:r>
            <a:r>
              <a:rPr b="1"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improved cluster stability</a:t>
            </a:r>
            <a:r>
              <a:rPr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 due to which </a:t>
            </a:r>
            <a:r>
              <a:rPr b="1"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clear separation and consistent shapes</a:t>
            </a:r>
            <a:r>
              <a:rPr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.</a:t>
            </a:r>
            <a:endParaRPr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317500" lvl="0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 Narrow"/>
              <a:buChar char="●"/>
            </a:pPr>
            <a:r>
              <a:rPr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Figure </a:t>
            </a:r>
            <a:r>
              <a:rPr b="1"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represents</a:t>
            </a:r>
            <a:r>
              <a:rPr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 the model’s ability to discover natural groupings in the dataset.</a:t>
            </a:r>
            <a:endParaRPr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</p:txBody>
      </p:sp>
      <p:pic>
        <p:nvPicPr>
          <p:cNvPr descr="A logo for a company&#10;&#10;AI-generated content may be incorrect." id="105" name="Google Shape;105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89424" y="65151"/>
            <a:ext cx="1066050" cy="1066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20" title="1000003077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58922" y="1321163"/>
            <a:ext cx="3879751" cy="3225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0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0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0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0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0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0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0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1"/>
          <p:cNvSpPr txBox="1"/>
          <p:nvPr>
            <p:ph type="title"/>
          </p:nvPr>
        </p:nvSpPr>
        <p:spPr>
          <a:xfrm>
            <a:off x="245745" y="545500"/>
            <a:ext cx="6995400" cy="703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SzPts val="800"/>
              <a:buNone/>
            </a:pPr>
            <a:r>
              <a:rPr lang="en" sz="2300">
                <a:solidFill>
                  <a:srgbClr val="1C4587"/>
                </a:solidFill>
              </a:rPr>
              <a:t>Visual Highlights - Production Data Cluster Behavior</a:t>
            </a:r>
            <a:endParaRPr sz="2300">
              <a:solidFill>
                <a:srgbClr val="1C4587"/>
              </a:solidFill>
            </a:endParaRPr>
          </a:p>
        </p:txBody>
      </p:sp>
      <p:sp>
        <p:nvSpPr>
          <p:cNvPr id="112" name="Google Shape;112;p21"/>
          <p:cNvSpPr txBox="1"/>
          <p:nvPr/>
        </p:nvSpPr>
        <p:spPr>
          <a:xfrm>
            <a:off x="153325" y="1118963"/>
            <a:ext cx="4776300" cy="33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17500" lvl="0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 Narrow"/>
              <a:buChar char="●"/>
            </a:pPr>
            <a:r>
              <a:rPr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Production clusters </a:t>
            </a:r>
            <a:r>
              <a:rPr b="1"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closely mirror</a:t>
            </a:r>
            <a:r>
              <a:rPr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 the structure of training clusters.</a:t>
            </a:r>
            <a:endParaRPr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317500" lvl="0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 Narrow"/>
              <a:buChar char="●"/>
            </a:pPr>
            <a:r>
              <a:rPr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Shows </a:t>
            </a:r>
            <a:r>
              <a:rPr b="1"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good model generalization</a:t>
            </a:r>
            <a:r>
              <a:rPr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 with no major deviations in distribution.</a:t>
            </a:r>
            <a:endParaRPr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317500" lvl="0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 Narrow"/>
              <a:buChar char="●"/>
            </a:pPr>
            <a:r>
              <a:rPr b="1"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No visible signs of data drift</a:t>
            </a:r>
            <a:r>
              <a:rPr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 across size or shape-related features.</a:t>
            </a:r>
            <a:endParaRPr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317500" lvl="0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 Narrow"/>
              <a:buChar char="●"/>
            </a:pPr>
            <a:r>
              <a:rPr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Confirms that the </a:t>
            </a:r>
            <a:r>
              <a:rPr b="1"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trained model remains reliable </a:t>
            </a:r>
            <a:r>
              <a:rPr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for unseen real-world data.</a:t>
            </a:r>
            <a:endParaRPr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317500" lvl="0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 Narrow"/>
              <a:buChar char="●"/>
            </a:pPr>
            <a:r>
              <a:rPr b="1"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Stable clustering patterns </a:t>
            </a:r>
            <a:r>
              <a:rPr lang="en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support deployment and scalability of the pipeline.</a:t>
            </a:r>
            <a:endParaRPr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</p:txBody>
      </p:sp>
      <p:pic>
        <p:nvPicPr>
          <p:cNvPr descr="A logo for a company&#10;&#10;AI-generated content may be incorrect." id="113" name="Google Shape;113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89424" y="65151"/>
            <a:ext cx="1066050" cy="1066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21" title="1000003078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60900" y="1187664"/>
            <a:ext cx="3888074" cy="3232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2"/>
          <p:cNvSpPr txBox="1"/>
          <p:nvPr>
            <p:ph type="title"/>
          </p:nvPr>
        </p:nvSpPr>
        <p:spPr>
          <a:xfrm>
            <a:off x="314320" y="476925"/>
            <a:ext cx="6995400" cy="703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SzPts val="800"/>
              <a:buNone/>
            </a:pPr>
            <a:r>
              <a:rPr lang="en" sz="2300">
                <a:solidFill>
                  <a:srgbClr val="1C4587"/>
                </a:solidFill>
              </a:rPr>
              <a:t>Clustering Quality Metrics</a:t>
            </a:r>
            <a:endParaRPr sz="2300">
              <a:solidFill>
                <a:srgbClr val="1C4587"/>
              </a:solidFill>
            </a:endParaRPr>
          </a:p>
        </p:txBody>
      </p:sp>
      <p:pic>
        <p:nvPicPr>
          <p:cNvPr descr="A logo for a company&#10;&#10;AI-generated content may be incorrect." id="120" name="Google Shape;120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58070" y="114300"/>
            <a:ext cx="1428750" cy="142875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21" name="Google Shape;121;p22"/>
          <p:cNvGraphicFramePr/>
          <p:nvPr/>
        </p:nvGraphicFramePr>
        <p:xfrm>
          <a:off x="314300" y="13716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{E71F86F5-A515-4E3D-9561-1A13A8D973ED}</a:tableStyleId>
              </a:tblPr>
              <a:tblGrid>
                <a:gridCol w="3430400"/>
                <a:gridCol w="51421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">
                          <a:solidFill>
                            <a:schemeClr val="dk1"/>
                          </a:solidFill>
                        </a:rPr>
                        <a:t>Silhouette Score (Training): 0.25</a:t>
                      </a:r>
                      <a:endParaRPr b="1"/>
                    </a:p>
                  </a:txBody>
                  <a:tcPr marT="91425" marB="91425" marR="91425" marL="91425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Score confirms that the </a:t>
                      </a:r>
                      <a:r>
                        <a:rPr b="1" lang="en"/>
                        <a:t>7-cluster solution is valid</a:t>
                      </a:r>
                      <a:r>
                        <a:rPr lang="en"/>
                        <a:t> but the dataset has </a:t>
                      </a:r>
                      <a:r>
                        <a:rPr b="1" lang="en"/>
                        <a:t>natural similarity between bean types,</a:t>
                      </a:r>
                      <a:r>
                        <a:rPr lang="en"/>
                        <a:t> so boundaries are not completely sharp.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781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Davies–Bouldin Index (Training): 1.319</a:t>
                      </a:r>
                      <a:endParaRPr b="1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Shows </a:t>
                      </a:r>
                      <a:r>
                        <a:rPr b="1" lang="en">
                          <a:solidFill>
                            <a:schemeClr val="dk1"/>
                          </a:solidFill>
                        </a:rPr>
                        <a:t>moderately good cluster compactness and separation</a:t>
                      </a:r>
                      <a:r>
                        <a:rPr lang="en">
                          <a:solidFill>
                            <a:schemeClr val="dk1"/>
                          </a:solidFill>
                        </a:rPr>
                        <a:t>. A </a:t>
                      </a:r>
                      <a:r>
                        <a:rPr b="1" lang="en">
                          <a:solidFill>
                            <a:schemeClr val="dk1"/>
                          </a:solidFill>
                        </a:rPr>
                        <a:t>DBI </a:t>
                      </a:r>
                      <a:r>
                        <a:rPr lang="en">
                          <a:solidFill>
                            <a:schemeClr val="dk1"/>
                          </a:solidFill>
                        </a:rPr>
                        <a:t>around </a:t>
                      </a:r>
                      <a:r>
                        <a:rPr b="1" lang="en">
                          <a:solidFill>
                            <a:schemeClr val="dk1"/>
                          </a:solidFill>
                        </a:rPr>
                        <a:t>1.0–1.5 </a:t>
                      </a:r>
                      <a:r>
                        <a:rPr lang="en">
                          <a:solidFill>
                            <a:schemeClr val="dk1"/>
                          </a:solidFill>
                        </a:rPr>
                        <a:t>is generally</a:t>
                      </a:r>
                      <a:r>
                        <a:rPr b="1" lang="en">
                          <a:solidFill>
                            <a:schemeClr val="dk1"/>
                          </a:solidFill>
                        </a:rPr>
                        <a:t> acceptable in practical/industrial clustering use-cases,</a:t>
                      </a:r>
                      <a:r>
                        <a:rPr lang="en">
                          <a:solidFill>
                            <a:schemeClr val="dk1"/>
                          </a:solidFill>
                        </a:rPr>
                        <a:t> especially for real-world biological or morphological datasets where natural overlap is expected.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">
                          <a:solidFill>
                            <a:schemeClr val="dk1"/>
                          </a:solidFill>
                        </a:rPr>
                        <a:t>Davies–Bouldin Index (Inference): 1.298</a:t>
                      </a:r>
                      <a:endParaRPr b="1"/>
                    </a:p>
                  </a:txBody>
                  <a:tcPr marT="91425" marB="91425" marR="91425" marL="91425"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Slightly </a:t>
                      </a:r>
                      <a:r>
                        <a:rPr b="1" lang="en">
                          <a:solidFill>
                            <a:schemeClr val="dk1"/>
                          </a:solidFill>
                        </a:rPr>
                        <a:t>better than training</a:t>
                      </a:r>
                      <a:r>
                        <a:rPr lang="en">
                          <a:solidFill>
                            <a:schemeClr val="dk1"/>
                          </a:solidFill>
                        </a:rPr>
                        <a:t>, meaning production data fits the learned cluster structure well.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Very small DBI difference (≈0.02)</a:t>
                      </a:r>
                      <a:endParaRPr b="1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Indicates no data drift, </a:t>
                      </a:r>
                      <a:r>
                        <a:rPr lang="en"/>
                        <a:t>and the </a:t>
                      </a:r>
                      <a:r>
                        <a:rPr b="1" lang="en"/>
                        <a:t>model generalizes smoothly from training to production.</a:t>
                      </a:r>
                      <a:endParaRPr b="1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3"/>
          <p:cNvSpPr txBox="1"/>
          <p:nvPr>
            <p:ph type="title"/>
          </p:nvPr>
        </p:nvSpPr>
        <p:spPr>
          <a:xfrm>
            <a:off x="314320" y="476925"/>
            <a:ext cx="6995400" cy="703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SzPts val="800"/>
              <a:buNone/>
            </a:pPr>
            <a:r>
              <a:rPr lang="en" sz="2300">
                <a:solidFill>
                  <a:srgbClr val="1C4587"/>
                </a:solidFill>
              </a:rPr>
              <a:t>Conclusion</a:t>
            </a:r>
            <a:endParaRPr sz="2300">
              <a:solidFill>
                <a:srgbClr val="1C4587"/>
              </a:solidFill>
            </a:endParaRPr>
          </a:p>
        </p:txBody>
      </p:sp>
      <p:sp>
        <p:nvSpPr>
          <p:cNvPr id="127" name="Google Shape;127;p23"/>
          <p:cNvSpPr txBox="1"/>
          <p:nvPr/>
        </p:nvSpPr>
        <p:spPr>
          <a:xfrm>
            <a:off x="96625" y="1180425"/>
            <a:ext cx="8917500" cy="33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17500" lvl="0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Successfully </a:t>
            </a:r>
            <a:r>
              <a:rPr b="1" lang="en">
                <a:solidFill>
                  <a:schemeClr val="dk1"/>
                </a:solidFill>
              </a:rPr>
              <a:t>developed an end-to-end, production-ready clustering pipeline </a:t>
            </a:r>
            <a:r>
              <a:rPr lang="en">
                <a:solidFill>
                  <a:schemeClr val="dk1"/>
                </a:solidFill>
              </a:rPr>
              <a:t>combining robust preprocessing, feature engineering, dimensionality reduction, and K-Means modeling.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I</a:t>
            </a:r>
            <a:r>
              <a:rPr b="1" lang="en">
                <a:solidFill>
                  <a:schemeClr val="dk1"/>
                </a:solidFill>
              </a:rPr>
              <a:t>dentified 7 optimal clusters</a:t>
            </a:r>
            <a:r>
              <a:rPr lang="en">
                <a:solidFill>
                  <a:schemeClr val="dk1"/>
                </a:solidFill>
              </a:rPr>
              <a:t> through a combination of </a:t>
            </a:r>
            <a:r>
              <a:rPr b="1" lang="en">
                <a:solidFill>
                  <a:schemeClr val="dk1"/>
                </a:solidFill>
              </a:rPr>
              <a:t>Elbow and Silhouette analysis</a:t>
            </a:r>
            <a:r>
              <a:rPr lang="en">
                <a:solidFill>
                  <a:schemeClr val="dk1"/>
                </a:solidFill>
              </a:rPr>
              <a:t>, ensuring a balance between cluster compactness and separation.</a:t>
            </a:r>
            <a:endParaRPr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The final model </a:t>
            </a:r>
            <a:r>
              <a:rPr b="1" lang="en">
                <a:solidFill>
                  <a:schemeClr val="dk1"/>
                </a:solidFill>
              </a:rPr>
              <a:t>demonstrated stable and meaningful cluster boundaries</a:t>
            </a:r>
            <a:r>
              <a:rPr lang="en">
                <a:solidFill>
                  <a:schemeClr val="dk1"/>
                </a:solidFill>
              </a:rPr>
              <a:t>, supported by scatterplot visualizations and Davies–Bouldin scores.</a:t>
            </a:r>
            <a:endParaRPr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b="1" lang="en">
                <a:solidFill>
                  <a:schemeClr val="dk1"/>
                </a:solidFill>
              </a:rPr>
              <a:t>Pr</a:t>
            </a:r>
            <a:r>
              <a:rPr b="1" lang="en">
                <a:solidFill>
                  <a:schemeClr val="dk1"/>
                </a:solidFill>
              </a:rPr>
              <a:t>o</a:t>
            </a:r>
            <a:r>
              <a:rPr b="1" lang="en">
                <a:solidFill>
                  <a:schemeClr val="dk1"/>
                </a:solidFill>
              </a:rPr>
              <a:t>duction (inference) results aligned closely with training behavior</a:t>
            </a:r>
            <a:r>
              <a:rPr lang="en">
                <a:solidFill>
                  <a:schemeClr val="dk1"/>
                </a:solidFill>
              </a:rPr>
              <a:t>, confirming strong generalization and no significant data drift.</a:t>
            </a:r>
            <a:endParaRPr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Overall, the project achieved its goal of </a:t>
            </a:r>
            <a:r>
              <a:rPr b="1" lang="en">
                <a:solidFill>
                  <a:schemeClr val="dk1"/>
                </a:solidFill>
              </a:rPr>
              <a:t>automatically discovering natural bean groups,</a:t>
            </a:r>
            <a:r>
              <a:rPr lang="en">
                <a:solidFill>
                  <a:schemeClr val="dk1"/>
                </a:solidFill>
              </a:rPr>
              <a:t> enabling scalable, objective, and reproducible morphological classification.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pic>
        <p:nvPicPr>
          <p:cNvPr descr="A logo for a company&#10;&#10;AI-generated content may be incorrect." id="128" name="Google Shape;12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64774" y="46323"/>
            <a:ext cx="1190700" cy="1190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7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BITS Digital">
      <a:dk1>
        <a:srgbClr val="000000"/>
      </a:dk1>
      <a:lt1>
        <a:srgbClr val="FFFFFF"/>
      </a:lt1>
      <a:dk2>
        <a:srgbClr val="7651A1"/>
      </a:dk2>
      <a:lt2>
        <a:srgbClr val="E8E8E8"/>
      </a:lt2>
      <a:accent1>
        <a:srgbClr val="7651A1"/>
      </a:accent1>
      <a:accent2>
        <a:srgbClr val="73C2E4"/>
      </a:accent2>
      <a:accent3>
        <a:srgbClr val="EA202A"/>
      </a:accent3>
      <a:accent4>
        <a:srgbClr val="F8C62C"/>
      </a:accent4>
      <a:accent5>
        <a:srgbClr val="2B2C6C"/>
      </a:accent5>
      <a:accent6>
        <a:srgbClr val="9700FF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